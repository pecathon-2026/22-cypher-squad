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solidFill>
              <a:srgbClr val="F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83879" y="0"/>
            <a:ext cx="4007815" cy="6858000"/>
          </a:xfrm>
          <a:prstGeom prst="rect">
            <a:avLst/>
          </a:prstGeom>
          <a:solidFill>
            <a:srgbClr val="EBE5D8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914400"/>
            <a:ext cx="2560320" cy="2560320"/>
          </a:xfrm>
          <a:prstGeom prst="ellipse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1691640"/>
            <a:ext cx="1005840" cy="1005840"/>
          </a:xfrm>
          <a:prstGeom prst="ellipse">
            <a:avLst/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4069080"/>
            <a:ext cx="2560320" cy="141732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5488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69756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07008"/>
            <a:ext cx="5669280" cy="1371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4200" b="1">
                <a:solidFill>
                  <a:srgbClr val="18221F"/>
                </a:solidFill>
                <a:latin typeface="Georgia"/>
              </a:rPr>
              <a:t>Small Web
Reader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880360"/>
            <a:ext cx="5166360" cy="7315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900" b="0">
                <a:solidFill>
                  <a:srgbClr val="69756D"/>
                </a:solidFill>
                <a:latin typeface="Aptos"/>
              </a:rPr>
              <a:t>A local-first RSS/Atom reader with anonymous, algorithm-free discovery for independent blogs.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416052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210812"/>
            <a:ext cx="14173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900" b="1">
                <a:solidFill>
                  <a:srgbClr val="18221F"/>
                </a:solidFill>
                <a:latin typeface="Aptos"/>
              </a:rPr>
              <a:t>PRIVATE BY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4160520"/>
            <a:ext cx="1115568" cy="292608"/>
          </a:xfrm>
          <a:prstGeom prst="roundRect">
            <a:avLst>
              <a:gd name="adj" fmla="val 12000"/>
            </a:avLst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4210812"/>
            <a:ext cx="1115568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900" b="1">
                <a:solidFill>
                  <a:srgbClr val="18221F"/>
                </a:solidFill>
                <a:latin typeface="Aptos"/>
              </a:rPr>
              <a:t>OFFLINE-FIRST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4160520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4210812"/>
            <a:ext cx="1078992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900" b="1">
                <a:solidFill>
                  <a:srgbClr val="FCFAF4"/>
                </a:solidFill>
                <a:latin typeface="Aptos"/>
              </a:rPr>
              <a:t>NO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96188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18221F"/>
                </a:solidFill>
                <a:latin typeface="Aptos"/>
              </a:rPr>
              <a:t>Cypher Squad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291072"/>
            <a:ext cx="548640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69756D"/>
                </a:solidFill>
                <a:latin typeface="Aptos"/>
              </a:rPr>
              <a:t>PS-003  /  Web Reader: Anonymous Discovery for Independent Blogs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4315968"/>
            <a:ext cx="2011680" cy="7772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18221F"/>
                </a:solidFill>
                <a:latin typeface="Georgia"/>
              </a:rPr>
              <a:t>Direct subscriptions.
Calm reading.
Useful discovery.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69756D"/>
                </a:solidFill>
                <a:latin typeface="Aptos"/>
              </a:rPr>
              <a:t>01 / UNDERSTANDING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8221F"/>
                </a:solidFill>
                <a:latin typeface="Georgia"/>
              </a:rPr>
              <a:t>The open web is rich. Discovery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69756D"/>
                </a:solidFill>
                <a:latin typeface="Aptos"/>
              </a:rPr>
              <a:t>PS-003 asks for discovery without recreating the tracking-heavy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73152" cy="1828800"/>
          </a:xfrm>
          <a:prstGeom prst="rect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020824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Algorithmic feeds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68296"/>
            <a:ext cx="3063240" cy="1207007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Ranking, ads and engagement loops decide what people see.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74519"/>
            <a:ext cx="73152" cy="1828800"/>
          </a:xfrm>
          <a:prstGeom prst="rect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020824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Independent blogs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368296"/>
            <a:ext cx="3063240" cy="1207007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RSS/Atom gives direct ownership, but assumes readers already know the feed URL.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74519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1874519"/>
            <a:ext cx="73152" cy="1828800"/>
          </a:xfrm>
          <a:prstGeom prst="rect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020824"/>
            <a:ext cx="30632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The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368296"/>
            <a:ext cx="3063240" cy="1207007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How do you discover something new without building a personal profile?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67712" y="3840480"/>
            <a:ext cx="0" cy="548640"/>
          </a:xfrm>
          <a:prstGeom prst="line">
            <a:avLst/>
          </a:prstGeom>
          <a:ln w="20320">
            <a:solidFill>
              <a:srgbClr val="6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08192" y="3840480"/>
            <a:ext cx="0" cy="548640"/>
          </a:xfrm>
          <a:prstGeom prst="line">
            <a:avLst/>
          </a:prstGeom>
          <a:ln w="20320">
            <a:solidFill>
              <a:srgbClr val="6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48672" y="3840480"/>
            <a:ext cx="0" cy="548640"/>
          </a:xfrm>
          <a:prstGeom prst="line">
            <a:avLst/>
          </a:prstGeom>
          <a:ln w="20320">
            <a:solidFill>
              <a:srgbClr val="6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560" y="4407408"/>
            <a:ext cx="10058400" cy="1078992"/>
          </a:xfrm>
          <a:prstGeom prst="roundRect">
            <a:avLst>
              <a:gd name="adj" fmla="val 12000"/>
            </a:avLst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617720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9EB4A3"/>
                </a:solidFill>
                <a:latin typeface="Aptos"/>
              </a:rPr>
              <a:t>Design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553712"/>
            <a:ext cx="8001000" cy="38404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FCFAF4"/>
                </a:solidFill>
                <a:latin typeface="Georgia"/>
              </a:rPr>
              <a:t>Use aggregate co-subscription patterns — not identity, clicks or reading history — to surface the next good blog.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47104"/>
            <a:ext cx="107899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0">
                <a:solidFill>
                  <a:srgbClr val="69756D"/>
                </a:solidFill>
                <a:latin typeface="Aptos"/>
              </a:rPr>
              <a:t>Evidence: docs/problem_statement_3_clean.txt; IMPLEMENTATION_PLAN.md §1–3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47104"/>
            <a:ext cx="137160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69756D"/>
                </a:solidFill>
                <a:latin typeface="Aptos"/>
              </a:rPr>
              <a:t>CYPHER SQUAD  /  PS-003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69756D"/>
                </a:solidFill>
                <a:latin typeface="Aptos"/>
              </a:rPr>
              <a:t>02 /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8221F"/>
                </a:solidFill>
                <a:latin typeface="Georgia"/>
              </a:rPr>
              <a:t>Discovery built from overlap, not surveillance.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69756D"/>
                </a:solidFill>
                <a:latin typeface="Aptos"/>
              </a:rPr>
              <a:t>A small graph can be useful without becoming a user-tracking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4572000" cy="379476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1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18221F"/>
                </a:solidFill>
                <a:latin typeface="Georgia"/>
              </a:rPr>
              <a:t>Anonymous batch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3749039" cy="5943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69756D"/>
                </a:solidFill>
                <a:latin typeface="Aptos"/>
              </a:rPr>
              <a:t>A reader may explicitly contribute up to 20 feed URLs once. The server stores only aggregate counters.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310128"/>
            <a:ext cx="219456" cy="219456"/>
          </a:xfrm>
          <a:prstGeom prst="ellipse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300984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18221F"/>
                </a:solidFill>
                <a:latin typeface="Aptos"/>
              </a:rPr>
              <a:t>Moss &amp; Signal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794760"/>
            <a:ext cx="219456" cy="219456"/>
          </a:xfrm>
          <a:prstGeom prst="ellipse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785616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18221F"/>
                </a:solidFill>
                <a:latin typeface="Aptos"/>
              </a:rPr>
              <a:t>Quiet Machines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279392"/>
            <a:ext cx="219456" cy="219456"/>
          </a:xfrm>
          <a:prstGeom prst="ellipse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427024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18221F"/>
                </a:solidFill>
                <a:latin typeface="Aptos"/>
              </a:rPr>
              <a:t>The Long Afternoon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273552"/>
            <a:ext cx="1188720" cy="10058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69756D"/>
                </a:solidFill>
                <a:latin typeface="Aptos"/>
              </a:rPr>
              <a:t>No account
No persistent ID
No reading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828800"/>
            <a:ext cx="5715000" cy="3794760"/>
          </a:xfrm>
          <a:prstGeom prst="roundRect">
            <a:avLst>
              <a:gd name="adj" fmla="val 12000"/>
            </a:avLst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084831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9EB4A3"/>
                </a:solidFill>
                <a:latin typeface="Georgia"/>
              </a:rPr>
              <a:t>What the graph learns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468880"/>
            <a:ext cx="4572000" cy="6217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FCFAF4"/>
                </a:solidFill>
                <a:latin typeface="Georgia"/>
              </a:rPr>
              <a:t>A + B appears together often
→ B becomes relevant to someone following A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886200"/>
            <a:ext cx="566928" cy="566928"/>
          </a:xfrm>
          <a:prstGeom prst="ellipse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23360"/>
            <a:ext cx="56692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8221F"/>
                </a:solidFill>
                <a:latin typeface="Aptos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337560"/>
            <a:ext cx="566928" cy="566928"/>
          </a:xfrm>
          <a:prstGeom prst="ellipse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20"/>
            <a:ext cx="56692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8221F"/>
                </a:solidFill>
                <a:latin typeface="Aptos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8732520" y="4572000"/>
            <a:ext cx="566928" cy="566928"/>
          </a:xfrm>
          <a:prstGeom prst="ellipse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4709160"/>
            <a:ext cx="566928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18221F"/>
                </a:solidFill>
                <a:latin typeface="Aptos"/>
              </a:rPr>
              <a:t>C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068312" y="3657600"/>
            <a:ext cx="1389888" cy="484632"/>
          </a:xfrm>
          <a:prstGeom prst="line">
            <a:avLst/>
          </a:prstGeom>
          <a:ln w="27940">
            <a:solidFill>
              <a:srgbClr val="9EB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68312" y="4142232"/>
            <a:ext cx="1572768" cy="685800"/>
          </a:xfrm>
          <a:prstGeom prst="line">
            <a:avLst/>
          </a:prstGeom>
          <a:ln w="27940">
            <a:solidFill>
              <a:srgbClr val="9EB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44768" y="5230368"/>
            <a:ext cx="46634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DDE3DD"/>
                </a:solidFill>
                <a:latin typeface="Aptos"/>
              </a:rPr>
              <a:t>The novelty is the boundary: useful aggregate signal, no personal profile.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47104"/>
            <a:ext cx="107899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0">
                <a:solidFill>
                  <a:srgbClr val="69756D"/>
                </a:solidFill>
                <a:latin typeface="Aptos"/>
              </a:rPr>
              <a:t>Evidence: PRODUCT.md §3D; src/lib/discovery.ts; functions/src/discovery.ts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47104"/>
            <a:ext cx="137160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69756D"/>
                </a:solidFill>
                <a:latin typeface="Aptos"/>
              </a:rPr>
              <a:t>CYPHER SQUAD  /  PS-003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69756D"/>
                </a:solidFill>
                <a:latin typeface="Aptos"/>
              </a:rPr>
              <a:t>03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8221F"/>
                </a:solidFill>
                <a:latin typeface="Georgia"/>
              </a:rPr>
              <a:t>One reader. Two data planes. Clear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69756D"/>
                </a:solidFill>
                <a:latin typeface="Aptos"/>
              </a:rPr>
              <a:t>Content stays local; the backend only handles raw fetches and aggregate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755648"/>
            <a:ext cx="4846320" cy="416052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93392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Browser / local-first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514600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EBE5D8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670048"/>
            <a:ext cx="274320" cy="274320"/>
          </a:xfrm>
          <a:prstGeom prst="ellipse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615184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18221F"/>
                </a:solidFill>
                <a:latin typeface="Aptos"/>
              </a:rPr>
              <a:t>React + Vite PWA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825496"/>
            <a:ext cx="306324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69756D"/>
                </a:solidFill>
                <a:latin typeface="Aptos"/>
              </a:rPr>
              <a:t>Timeline, subscriptions, Discover, Reader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355848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EBE5D8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3511296"/>
            <a:ext cx="274320" cy="274320"/>
          </a:xfrm>
          <a:prstGeom prst="ellipse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456432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18221F"/>
                </a:solidFill>
                <a:latin typeface="Aptos"/>
              </a:rPr>
              <a:t>Parser + extractor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666744"/>
            <a:ext cx="306324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69756D"/>
                </a:solidFill>
                <a:latin typeface="Aptos"/>
              </a:rPr>
              <a:t>RSS/Atom parsing, Readability, DOMPurify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197096"/>
            <a:ext cx="4206240" cy="603504"/>
          </a:xfrm>
          <a:prstGeom prst="roundRect">
            <a:avLst>
              <a:gd name="adj" fmla="val 12000"/>
            </a:avLst>
          </a:prstGeom>
          <a:solidFill>
            <a:srgbClr val="EBE5D8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4352544"/>
            <a:ext cx="274320" cy="274320"/>
          </a:xfrm>
          <a:prstGeom prst="ellipse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4752" y="4297680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18221F"/>
                </a:solidFill>
                <a:latin typeface="Aptos"/>
              </a:rPr>
              <a:t>Dexie / IndexedDB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507992"/>
            <a:ext cx="306324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69756D"/>
                </a:solidFill>
                <a:latin typeface="Aptos"/>
              </a:rPr>
              <a:t>Feeds, posts, articles, viewed state, outbox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755648"/>
            <a:ext cx="4937760" cy="4160520"/>
          </a:xfrm>
          <a:prstGeom prst="roundRect">
            <a:avLst>
              <a:gd name="adj" fmla="val 12000"/>
            </a:avLst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1993392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FCFAF4"/>
                </a:solidFill>
                <a:latin typeface="Georgia"/>
              </a:rPr>
              <a:t>Backend / aggregate plane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514600"/>
            <a:ext cx="4297680" cy="603504"/>
          </a:xfrm>
          <a:prstGeom prst="roundRect">
            <a:avLst>
              <a:gd name="adj" fmla="val 12000"/>
            </a:avLst>
          </a:prstGeom>
          <a:solidFill>
            <a:srgbClr val="293631"/>
          </a:solidFill>
          <a:ln>
            <a:solidFill>
              <a:srgbClr val="425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2670048"/>
            <a:ext cx="274320" cy="274320"/>
          </a:xfrm>
          <a:prstGeom prst="ellipse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2615184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FCFAF4"/>
                </a:solidFill>
                <a:latin typeface="Aptos"/>
              </a:rPr>
              <a:t>/api/fetch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825496"/>
            <a:ext cx="32461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DDE3DD"/>
                </a:solidFill>
                <a:latin typeface="Aptos"/>
              </a:rPr>
              <a:t>Raw upstream content only; SSRF/timeout/size limits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355848"/>
            <a:ext cx="4297680" cy="603504"/>
          </a:xfrm>
          <a:prstGeom prst="roundRect">
            <a:avLst>
              <a:gd name="adj" fmla="val 12000"/>
            </a:avLst>
          </a:prstGeom>
          <a:solidFill>
            <a:srgbClr val="293631"/>
          </a:solidFill>
          <a:ln>
            <a:solidFill>
              <a:srgbClr val="425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0" y="3511296"/>
            <a:ext cx="274320" cy="274320"/>
          </a:xfrm>
          <a:prstGeom prst="ellipse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3" y="3456432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FCFAF4"/>
                </a:solidFill>
                <a:latin typeface="Aptos"/>
              </a:rPr>
              <a:t>Discovery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3666744"/>
            <a:ext cx="32461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DDE3DD"/>
                </a:solidFill>
                <a:latin typeface="Aptos"/>
              </a:rPr>
              <a:t>Popular, recommendations, explicit contribution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197096"/>
            <a:ext cx="4297680" cy="603504"/>
          </a:xfrm>
          <a:prstGeom prst="roundRect">
            <a:avLst>
              <a:gd name="adj" fmla="val 12000"/>
            </a:avLst>
          </a:prstGeom>
          <a:solidFill>
            <a:srgbClr val="293631"/>
          </a:solidFill>
          <a:ln>
            <a:solidFill>
              <a:srgbClr val="425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0" y="4352544"/>
            <a:ext cx="274320" cy="274320"/>
          </a:xfrm>
          <a:prstGeom prst="ellipse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44383" y="4297680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FCFAF4"/>
                </a:solidFill>
                <a:latin typeface="Aptos"/>
              </a:rPr>
              <a:t>Firestore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4383" y="4507992"/>
            <a:ext cx="32461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900" b="0">
                <a:solidFill>
                  <a:srgbClr val="DDE3DD"/>
                </a:solidFill>
                <a:latin typeface="Aptos"/>
              </a:rPr>
              <a:t>feeds + feedPairs + receipts + rate limits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40680" y="3794760"/>
            <a:ext cx="1252728" cy="0"/>
          </a:xfrm>
          <a:prstGeom prst="line">
            <a:avLst/>
          </a:prstGeom>
          <a:ln w="29209">
            <a:solidFill>
              <a:srgbClr val="D7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532120" y="3401568"/>
            <a:ext cx="11430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900" b="1">
                <a:solidFill>
                  <a:srgbClr val="69756D"/>
                </a:solidFill>
                <a:latin typeface="Aptos"/>
              </a:rPr>
              <a:t>only when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47104"/>
            <a:ext cx="107899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0">
                <a:solidFill>
                  <a:srgbClr val="69756D"/>
                </a:solidFill>
                <a:latin typeface="Aptos"/>
              </a:rPr>
              <a:t>Evidence: DESIGN.md §1–3; README.md architecture and route contracts; firebase.json rewrites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47104"/>
            <a:ext cx="137160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69756D"/>
                </a:solidFill>
                <a:latin typeface="Aptos"/>
              </a:rPr>
              <a:t>CYPHER SQUAD  /  PS-003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69756D"/>
                </a:solidFill>
                <a:latin typeface="Aptos"/>
              </a:rPr>
              <a:t>04 / PRODUCT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8221F"/>
                </a:solidFill>
                <a:latin typeface="Georgia"/>
              </a:rPr>
              <a:t>From feed URL to calm, resilient reading.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69756D"/>
                </a:solidFill>
                <a:latin typeface="Aptos"/>
              </a:rPr>
              <a:t>The happy path is simple; the edge paths are deliberate.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965960" cy="182880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9224" y="2157984"/>
            <a:ext cx="384048" cy="384048"/>
          </a:xfrm>
          <a:prstGeom prst="ellipse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258568"/>
            <a:ext cx="384048" cy="146304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18221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121408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18221F"/>
                </a:solidFill>
                <a:latin typeface="Georgia"/>
              </a:rPr>
              <a:t>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43200"/>
            <a:ext cx="16002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Autodiscover RSS/Atom
or common feed paths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96312" y="2852928"/>
            <a:ext cx="274320" cy="0"/>
          </a:xfrm>
          <a:prstGeom prst="line">
            <a:avLst/>
          </a:prstGeom>
          <a:ln w="19050">
            <a:solidFill>
              <a:srgbClr val="6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965960"/>
            <a:ext cx="1965960" cy="182880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80944" y="2157984"/>
            <a:ext cx="384048" cy="384048"/>
          </a:xfrm>
          <a:prstGeom prst="ellipse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2258568"/>
            <a:ext cx="384048" cy="146304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18221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121408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18221F"/>
                </a:solidFill>
                <a:latin typeface="Georgia"/>
              </a:rPr>
              <a:t>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743200"/>
            <a:ext cx="16002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Normalize entries
and deduplicate posts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1" y="2852928"/>
            <a:ext cx="274321" cy="0"/>
          </a:xfrm>
          <a:prstGeom prst="line">
            <a:avLst/>
          </a:prstGeom>
          <a:ln w="19050">
            <a:solidFill>
              <a:srgbClr val="6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59" y="1965960"/>
            <a:ext cx="1965960" cy="182880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12664" y="2157984"/>
            <a:ext cx="384048" cy="384048"/>
          </a:xfrm>
          <a:prstGeom prst="ellipse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258568"/>
            <a:ext cx="384048" cy="146304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18221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1" y="2121408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18221F"/>
                </a:solidFill>
                <a:latin typeface="Georgia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1" y="2743200"/>
            <a:ext cx="16002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Extract + sanitize
full text in browser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9752" y="2852928"/>
            <a:ext cx="274319" cy="0"/>
          </a:xfrm>
          <a:prstGeom prst="line">
            <a:avLst/>
          </a:prstGeom>
          <a:ln w="19050">
            <a:solidFill>
              <a:srgbClr val="6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79" y="1965960"/>
            <a:ext cx="1965960" cy="182880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44383" y="2157984"/>
            <a:ext cx="384048" cy="384048"/>
          </a:xfrm>
          <a:prstGeom prst="ellipse">
            <a:avLst/>
          </a:prstGeom>
          <a:solidFill>
            <a:srgbClr val="5A82AA"/>
          </a:solidFill>
          <a:ln>
            <a:solidFill>
              <a:srgbClr val="5A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3" y="2258568"/>
            <a:ext cx="384048" cy="146304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18221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2121408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18221F"/>
                </a:solidFill>
                <a:latin typeface="Georgia"/>
              </a:rPr>
              <a:t>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743200"/>
            <a:ext cx="16002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Keep posts/articles
available offline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91472" y="2852928"/>
            <a:ext cx="274320" cy="0"/>
          </a:xfrm>
          <a:prstGeom prst="line">
            <a:avLst/>
          </a:prstGeom>
          <a:ln w="19050">
            <a:solidFill>
              <a:srgbClr val="6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29800" y="1965960"/>
            <a:ext cx="1965960" cy="182880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76104" y="2157984"/>
            <a:ext cx="384048" cy="384048"/>
          </a:xfrm>
          <a:prstGeom prst="ellipse">
            <a:avLst/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6104" y="2258568"/>
            <a:ext cx="384048" cy="146304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FCFAF4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1592" y="2121408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18221F"/>
                </a:solidFill>
                <a:latin typeface="Georgia"/>
              </a:rPr>
              <a:t>Discover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2743200"/>
            <a:ext cx="16002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Opt in, see reasons,
contribute separately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498848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736592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9EB4A3"/>
                </a:solidFill>
                <a:latin typeface="Aptos"/>
              </a:rPr>
              <a:t>Demo 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4645152"/>
            <a:ext cx="845820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CFAF4"/>
                </a:solidFill>
                <a:latin typeface="Georgia"/>
              </a:rPr>
              <a:t>Follow a feed → open a clean article → go offline → keep reading → opt in to discover a relevant blog.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47104"/>
            <a:ext cx="107899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0">
                <a:solidFill>
                  <a:srgbClr val="69756D"/>
                </a:solidFill>
                <a:latin typeface="Aptos"/>
              </a:rPr>
              <a:t>Evidence: src/App.tsx; src/lib/feed-core.ts; src/lib/article.ts; src/lib/db.ts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47104"/>
            <a:ext cx="137160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69756D"/>
                </a:solidFill>
                <a:latin typeface="Aptos"/>
              </a:rPr>
              <a:t>CYPHER SQUAD  /  PS-003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69756D"/>
                </a:solidFill>
                <a:latin typeface="Aptos"/>
              </a:rPr>
              <a:t>05 / TRUST BY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8221F"/>
                </a:solidFill>
                <a:latin typeface="Georgia"/>
              </a:rPr>
              <a:t>Privacy is not a footer. It is the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69756D"/>
                </a:solidFill>
                <a:latin typeface="Aptos"/>
              </a:rPr>
              <a:t>The strongest differentiator is what the system refuses to collect.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73152" cy="1234440"/>
          </a:xfrm>
          <a:prstGeom prst="rect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020824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Private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68296"/>
            <a:ext cx="4754880" cy="61264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Subscription URLs stay local unless personalized discovery is enabled.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874519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874519"/>
            <a:ext cx="73152" cy="1234440"/>
          </a:xfrm>
          <a:prstGeom prst="rect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020824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Safe fetch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368296"/>
            <a:ext cx="4754880" cy="61264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SSRF checks, DNS validation, redirect revalidation, 8s timeout, 2 MiB cap.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47287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447287"/>
            <a:ext cx="73152" cy="1234440"/>
          </a:xfrm>
          <a:prstGeom prst="rect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593591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Abuse resistance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941063"/>
            <a:ext cx="4754880" cy="61264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App Check, HMAC-derived rate-limit keys, endpoint limits, idempotent receipts.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447287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3447287"/>
            <a:ext cx="73152" cy="1234440"/>
          </a:xfrm>
          <a:prstGeom prst="rect">
            <a:avLst/>
          </a:prstGeom>
          <a:solidFill>
            <a:srgbClr val="5A82AA"/>
          </a:solidFill>
          <a:ln>
            <a:solidFill>
              <a:srgbClr val="5A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593591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Safe rendering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941063"/>
            <a:ext cx="4754880" cy="61264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Readability extraction and DOMPurify sanitization before article HTML is rendered.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5157216"/>
            <a:ext cx="8915400" cy="566928"/>
          </a:xfrm>
          <a:prstGeom prst="roundRect">
            <a:avLst>
              <a:gd name="adj" fmla="val 12000"/>
            </a:avLst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5340096"/>
            <a:ext cx="841248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FCFAF4"/>
                </a:solidFill>
                <a:latin typeface="Aptos"/>
              </a:rPr>
              <a:t>NEVER STORED: accounts • raw IPs • reading history • raw feed XML • article HTML • persistent subscription profiles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47104"/>
            <a:ext cx="107899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0">
                <a:solidFill>
                  <a:srgbClr val="69756D"/>
                </a:solidFill>
                <a:latin typeface="Aptos"/>
              </a:rPr>
              <a:t>Evidence: README.md privacy/threat model; api/fetch.ts; functions/src/security.ts; firestore.rules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47104"/>
            <a:ext cx="137160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69756D"/>
                </a:solidFill>
                <a:latin typeface="Aptos"/>
              </a:rPr>
              <a:t>CYPHER SQUAD  /  PS-003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69756D"/>
                </a:solidFill>
                <a:latin typeface="Aptos"/>
              </a:rPr>
              <a:t>06 /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8221F"/>
                </a:solidFill>
                <a:latin typeface="Georgia"/>
              </a:rPr>
              <a:t>70 tests passed. The edge cases are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69756D"/>
                </a:solidFill>
                <a:latin typeface="Aptos"/>
              </a:rPr>
              <a:t>Validation is aimed at the failure modes that would break trust or usefulness.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2011680" cy="3337560"/>
          </a:xfrm>
          <a:prstGeom prst="roundRect">
            <a:avLst>
              <a:gd name="adj" fmla="val 12000"/>
            </a:avLst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164592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4800" b="1">
                <a:solidFill>
                  <a:srgbClr val="9EB4A3"/>
                </a:solidFill>
                <a:latin typeface="Georgia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600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FCFAF4"/>
                </a:solidFill>
                <a:latin typeface="Aptos"/>
              </a:rPr>
              <a:t>tests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1600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DDE3DD"/>
                </a:solidFill>
                <a:latin typeface="Aptos"/>
              </a:rPr>
              <a:t>10 test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160020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DDE3DD"/>
                </a:solidFill>
                <a:latin typeface="Aptos"/>
              </a:rPr>
              <a:t>npm test
npm run 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828800"/>
            <a:ext cx="3886200" cy="1261872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2" y="1828800"/>
            <a:ext cx="73152" cy="1261872"/>
          </a:xfrm>
          <a:prstGeom prst="rect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75104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Feed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22576"/>
            <a:ext cx="3566160" cy="6400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RSS, Atom, RDF, malformed XML, empty feeds, deduplication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5472" y="1828800"/>
            <a:ext cx="3886200" cy="1261872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5472" y="1828800"/>
            <a:ext cx="73152" cy="1261872"/>
          </a:xfrm>
          <a:prstGeom prst="rect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975104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322576"/>
            <a:ext cx="3566160" cy="6400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Private IPv4/IPv6, metadata hosts, credentials, secret query keys, redirects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2" y="3493008"/>
            <a:ext cx="3886200" cy="1261872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07792" y="3493008"/>
            <a:ext cx="73152" cy="1261872"/>
          </a:xfrm>
          <a:prstGeom prst="rect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3639312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Discovery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986784"/>
            <a:ext cx="3566160" cy="6400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Followed-feed exclusion, score weighting, 20-feed / 190-pair cap, idempotency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472" y="3493008"/>
            <a:ext cx="3886200" cy="1261872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05472" y="3493008"/>
            <a:ext cx="73152" cy="1261872"/>
          </a:xfrm>
          <a:prstGeom prst="rect">
            <a:avLst/>
          </a:prstGeom>
          <a:solidFill>
            <a:srgbClr val="5A82AA"/>
          </a:solidFill>
          <a:ln>
            <a:solidFill>
              <a:srgbClr val="5A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639312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Offline + portability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986784"/>
            <a:ext cx="3566160" cy="6400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OPML round-trip, theme persistence, local cache and outbox behavior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5157216"/>
            <a:ext cx="4160520" cy="594360"/>
          </a:xfrm>
          <a:prstGeom prst="roundRect">
            <a:avLst>
              <a:gd name="adj" fmla="val 12000"/>
            </a:avLst>
          </a:prstGeom>
          <a:solidFill>
            <a:srgbClr val="EBE5D8"/>
          </a:solidFill>
          <a:ln>
            <a:solidFill>
              <a:srgbClr val="EB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5340096"/>
            <a:ext cx="3730752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900" b="1">
                <a:solidFill>
                  <a:srgbClr val="18221F"/>
                </a:solidFill>
                <a:latin typeface="Aptos"/>
              </a:rPr>
              <a:t>Honest limitation: no full browser E2E proof of the complete journey yet.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47104"/>
            <a:ext cx="107899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0">
                <a:solidFill>
                  <a:srgbClr val="69756D"/>
                </a:solidFill>
                <a:latin typeface="Aptos"/>
              </a:rPr>
              <a:t>Evidence: npm test output; src/test/*.test.ts; seed-audit-report.md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47104"/>
            <a:ext cx="137160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69756D"/>
                </a:solidFill>
                <a:latin typeface="Aptos"/>
              </a:rPr>
              <a:t>CYPHER SQUAD  /  PS-003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69756D"/>
                </a:solidFill>
                <a:latin typeface="Aptos"/>
              </a:rPr>
              <a:t>07 / IMPACT &amp;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700" b="1">
                <a:solidFill>
                  <a:srgbClr val="18221F"/>
                </a:solidFill>
                <a:latin typeface="Georgia"/>
              </a:rPr>
              <a:t>A practical alternative to the engagement feed.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60704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69756D"/>
                </a:solidFill>
                <a:latin typeface="Aptos"/>
              </a:rPr>
              <a:t>Useful now, deployable with the documented Firebase/Vercel paths, and extensible without collecting more personal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337560" cy="1572768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73152" cy="1572768"/>
          </a:xfrm>
          <a:prstGeom prst="rect">
            <a:avLst/>
          </a:prstGeom>
          <a:solidFill>
            <a:srgbClr val="9EB4A3"/>
          </a:solidFill>
          <a:ln>
            <a:solidFill>
              <a:srgbClr val="9EB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0824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For readers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68296"/>
            <a:ext cx="3017520" cy="95097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Own your subscriptions. Read offline. Discover without being profiled.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874519"/>
            <a:ext cx="3337560" cy="1572768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3128" y="1874519"/>
            <a:ext cx="73152" cy="1572768"/>
          </a:xfrm>
          <a:prstGeom prst="rect">
            <a:avLst/>
          </a:prstGeom>
          <a:solidFill>
            <a:srgbClr val="D7A646"/>
          </a:solidFill>
          <a:ln>
            <a:solidFill>
              <a:srgbClr val="D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020824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For bloggers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68296"/>
            <a:ext cx="3017520" cy="95097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Direct distribution and visibility beyond the biggest platforms.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74519"/>
            <a:ext cx="3337560" cy="1572768"/>
          </a:xfrm>
          <a:prstGeom prst="roundRect">
            <a:avLst>
              <a:gd name="adj" fmla="val 12000"/>
            </a:avLst>
          </a:prstGeom>
          <a:solidFill>
            <a:srgbClr val="FCFAF4"/>
          </a:solidFill>
          <a:ln>
            <a:solidFill>
              <a:srgbClr val="DD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1874519"/>
            <a:ext cx="73152" cy="1572768"/>
          </a:xfrm>
          <a:prstGeom prst="rect">
            <a:avLst/>
          </a:prstGeom>
          <a:solidFill>
            <a:srgbClr val="C97058"/>
          </a:solidFill>
          <a:ln>
            <a:solidFill>
              <a:srgbClr val="C97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020824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1">
                <a:solidFill>
                  <a:srgbClr val="18221F"/>
                </a:solidFill>
                <a:latin typeface="Georgia"/>
              </a:rPr>
              <a:t>For operators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368296"/>
            <a:ext cx="3017520" cy="95097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56D"/>
                </a:solidFill>
                <a:latin typeface="Aptos"/>
              </a:rPr>
              <a:t>Small surface area: one PWA, one API layer, one aggregate 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977639"/>
            <a:ext cx="10881360" cy="1234440"/>
          </a:xfrm>
          <a:prstGeom prst="roundRect">
            <a:avLst>
              <a:gd name="adj" fmla="val 12000"/>
            </a:avLst>
          </a:prstGeom>
          <a:solidFill>
            <a:srgbClr val="18221F"/>
          </a:solidFill>
          <a:ln>
            <a:solidFill>
              <a:srgbClr val="18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24528"/>
            <a:ext cx="123444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9EB4A3"/>
                </a:solidFill>
                <a:latin typeface="Aptos"/>
              </a:rPr>
              <a:t>Ready to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160520"/>
            <a:ext cx="87325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FCFAF4"/>
                </a:solidFill>
                <a:latin typeface="Georgia"/>
              </a:rPr>
              <a:t>1. Add a feed   2. Read extracted article   3. Disconnect   4. Discover with opt-in   5. Explain the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18304"/>
            <a:ext cx="457200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0">
                <a:solidFill>
                  <a:srgbClr val="DDE3DD"/>
                </a:solidFill>
                <a:latin typeface="Aptos"/>
              </a:rPr>
              <a:t>Repository: PECathon-2026/Cypher-Squad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100" b="1">
                <a:solidFill>
                  <a:srgbClr val="18221F"/>
                </a:solidFill>
                <a:latin typeface="Georgia"/>
              </a:rPr>
              <a:t>Small Web Reader: calm reading, useful discovery, no personal profile.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47104"/>
            <a:ext cx="1078992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800" b="0">
                <a:solidFill>
                  <a:srgbClr val="69756D"/>
                </a:solidFill>
                <a:latin typeface="Aptos"/>
              </a:rPr>
              <a:t>Evidence: README.md setup/deployment; PRODUCT.md; firebase.json; implementation build/tests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47104"/>
            <a:ext cx="137160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800" b="1">
                <a:solidFill>
                  <a:srgbClr val="69756D"/>
                </a:solidFill>
                <a:latin typeface="Aptos"/>
              </a:rPr>
              <a:t>CYPHER SQUAD  /  PS-003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